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6b25c0b-183e-b058-c0d8-d7b2fb1086a5}">
          <p14:sldIdLst>
            <p14:sldId id="256"/>
            <p14:sldId id="257"/>
          </p14:sldIdLst>
        </p14:section>
        <p14:section name="How Scrum Works" id="{f87b2261-3a07-9b21-e306-a3d96d54f552}">
          <p14:sldIdLst>
            <p14:sldId id="258"/>
            <p14:sldId id="259"/>
          </p14:sldIdLst>
        </p14:section>
        <p14:section name="Waterfall vs. Agile" id="{06d8c67d-f61b-5582-2760-47324709c4b4}">
          <p14:sldIdLst>
            <p14:sldId id="260"/>
            <p14:sldId id="261"/>
          </p14:sldIdLst>
        </p14:section>
        <p14:section name="Recommendation" id="{a627768c-f617-1ee8-cf09-52cc3c4aafc8}">
          <p14:sldIdLst>
            <p14:sldId id="262"/>
            <p14:sldId id="263"/>
          </p14:sldIdLst>
        </p14:section>
        <p14:section name="References" id="{90ce8a75-6a63-b9f9-ce14-69c70c1322a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asked whether every development team should move from waterfall to Scrum-Agile. Our team piloted Scrum on the SNHU Travel booking application. This presentation explains how Scrum works, compares it to waterfall using what happened on our project, and ends with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Mishra and Alzoubi (2023) report that roughly 40 percent of agile initiatives succeed compared to 15 percent of waterfall projects, and agile projects fail less often. Our own pilot backs that up. When SNHU Travel changed direction mid-project, Scrum let us absorb it in one sprint without moving the deadline. My recommendation is a phased rollout, with a hybrid option where scope is truly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Owner: on our project, Christy brought the wellness change straight to the team and reprioritized the backlog. Magnussen et al. (2024) found the Product Owner's main contributions are prioritizing, communicating, and being available so developers get quick answers. Scrum Master: Ron immediately asked whether the schedule was changing. Developers: when I updated the Slide Show, I also found and reported two hidden defects. Testers: Brian updated his test cases as soon as the direction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still exists in Agile, but it happens inside every sprint on a small set of stories. Planning keeps work focused. Design stays lightweight. Development produces working code. Testing happens before a story counts as done. Deployment gives the client something real. Review closes the loop: the Sprint Review gathers stakeholder feedback, and the Retrospective improves the process. Kantola et al. (2022) found that when developers lack visibility into upcoming work, new requirements cause unnecessary rework, which is what this repeating cycle prevents.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moves through requirements, design, build, test, and release one time, in order. That works when requirements are stable. Agile repeats the cycle in short sprints, keeps the customer involved, and treats change as normal. Mishra and Alzoubi (2023) stress that the real question is which method fits a particular project, not which one is always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leadership. Under waterfall, the change would have arrived after requirements were signed off, forcing us to reopen documents, redesign, and retest, and the deadline would likely have slipped. Under Scrum, Christy reprioritized the backlog, I updated the Slide Show content in one sprint, and testing kept pace. While updating it, I also caught a display bug and a file name mismatch that waterfall would not have surfaced until the final testing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method fits every project. Agile works best when requirements are uncertain, the customer can stay involved, and teams are small and cross-functional. Waterfall still fits fixed, well-understood, heavily regulated work. Mishra and Alzoubi (2023) note that many organizations use hybrid approaches for exactly that reason. SNHU Travel was entering a new market, its requirements changed mid-project, and the Product Owner was available, all of which point to 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to expand Scrum team by team instead of all at once. First, train dedicated Product Owners. Second, leaders need to support the change, since Iqbal (2025), summarizing Digital.ai's 17th State of Agile Report, notes that leadership, culture, and alignment are now the biggest barriers, and that Scrum remains the most-used framework. Third, standardize on a shared tool such as Jira. Fourth, keep a hybrid option for fixed-scope work. AI acknowledgment: I used Claude (Anthropic) to help organize and draft this presentation, and the project examples come from my own course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cited in this presentation. Four of the five were published within the last five years; the Cobb textbook is the course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400" b="1" dirty="0">
                <a:solidFill>
                  <a:schemeClr val="bg1"/>
                </a:solidFill>
              </a:rPr>
              <a:t>Should ChadaTech Move to Scrum-Agile?</a:t>
            </a: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indent="0" marL="0">
              <a:buNone/>
            </a:pPr>
            <a:r>
              <a:rPr lang="en-US" sz="1800" dirty="0">
                <a:solidFill>
                  <a:schemeClr val="bg2"/>
                </a:solidFill>
              </a:rPr>
              <a:t>Lessons from the SNHU Travel pilot  |  Jonathan Pineset  |  CS 250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The pilot gave us a clear answer: Agile handles change</a:t>
            </a:r>
            <a:endParaRPr lang="en-US" sz="3400" dirty="0"/>
          </a:p>
        </p:txBody>
      </p:sp>
      <p:sp>
        <p:nvSpPr>
          <p:cNvPr id="3" name="stat0"/>
          <p:cNvSpPr/>
          <p:nvPr/>
        </p:nvSpPr>
        <p:spPr>
          <a:xfrm>
            <a:off x="548640" y="1554480"/>
            <a:ext cx="3474720" cy="301752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822960" y="1828800"/>
            <a:ext cx="3017520" cy="10058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40% vs 15%</a:t>
            </a:r>
            <a:endParaRPr lang="en-US" sz="4000" dirty="0"/>
          </a:p>
        </p:txBody>
      </p:sp>
      <p:sp>
        <p:nvSpPr>
          <p:cNvPr id="5" name="Text 3"/>
          <p:cNvSpPr txBox="1"/>
          <p:nvPr/>
        </p:nvSpPr>
        <p:spPr>
          <a:xfrm>
            <a:off x="822960" y="3017520"/>
            <a:ext cx="2926080" cy="1371600"/>
          </a:xfrm>
          <a:prstGeom prst="rect">
            <a:avLst/>
          </a:prstGeom>
          <a:noFill/>
          <a:ln/>
        </p:spPr>
        <p:txBody>
          <a:bodyPr wrap="square" lIns="0" tIns="0" rIns="0" bIns="0" rtlCol="0" anchor="t"/>
          <a:lstStyle/>
          <a:p>
            <a:pPr indent="0" marL="0">
              <a:buNone/>
            </a:pPr>
            <a:r>
              <a:rPr lang="en-US" sz="1500" dirty="0">
                <a:solidFill>
                  <a:schemeClr val="tx1"/>
                </a:solidFill>
              </a:rPr>
              <a:t>success rate reported for agile initiatives compared to waterfall projects (Mishra &amp; Alzoubi, 2023)</a:t>
            </a:r>
            <a:endParaRPr lang="en-US" sz="1500" dirty="0"/>
          </a:p>
        </p:txBody>
      </p:sp>
      <p:sp>
        <p:nvSpPr>
          <p:cNvPr id="6" name="stat1"/>
          <p:cNvSpPr/>
          <p:nvPr/>
        </p:nvSpPr>
        <p:spPr>
          <a:xfrm>
            <a:off x="4325112" y="1554480"/>
            <a:ext cx="3474720" cy="3017520"/>
          </a:xfrm>
          <a:prstGeom prst="roundRect">
            <a:avLst>
              <a:gd name="adj" fmla="val 3636"/>
            </a:avLst>
          </a:prstGeom>
          <a:solidFill>
            <a:schemeClr val="bg2"/>
          </a:solidFill>
          <a:ln w="12700">
            <a:solidFill>
              <a:schemeClr val="bg2"/>
            </a:solidFill>
            <a:prstDash val="solid"/>
          </a:ln>
        </p:spPr>
      </p:sp>
      <p:sp>
        <p:nvSpPr>
          <p:cNvPr id="7" name="Text 5"/>
          <p:cNvSpPr txBox="1"/>
          <p:nvPr/>
        </p:nvSpPr>
        <p:spPr>
          <a:xfrm>
            <a:off x="4599432" y="1828800"/>
            <a:ext cx="3017520" cy="10058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1 sprint</a:t>
            </a:r>
            <a:endParaRPr lang="en-US" sz="4000" dirty="0"/>
          </a:p>
        </p:txBody>
      </p:sp>
      <p:sp>
        <p:nvSpPr>
          <p:cNvPr id="8" name="Text 6"/>
          <p:cNvSpPr txBox="1"/>
          <p:nvPr/>
        </p:nvSpPr>
        <p:spPr>
          <a:xfrm>
            <a:off x="4599432" y="3017520"/>
            <a:ext cx="2926080" cy="1371600"/>
          </a:xfrm>
          <a:prstGeom prst="rect">
            <a:avLst/>
          </a:prstGeom>
          <a:noFill/>
          <a:ln/>
        </p:spPr>
        <p:txBody>
          <a:bodyPr wrap="square" lIns="0" tIns="0" rIns="0" bIns="0" rtlCol="0" anchor="t"/>
          <a:lstStyle/>
          <a:p>
            <a:pPr indent="0" marL="0">
              <a:buNone/>
            </a:pPr>
            <a:r>
              <a:rPr lang="en-US" sz="1500" dirty="0">
                <a:solidFill>
                  <a:schemeClr val="tx1"/>
                </a:solidFill>
              </a:rPr>
              <a:t>to absorb SNHU Travel's mid-project shift to detox and wellness travel</a:t>
            </a:r>
            <a:endParaRPr lang="en-US" sz="1500" dirty="0"/>
          </a:p>
        </p:txBody>
      </p:sp>
      <p:sp>
        <p:nvSpPr>
          <p:cNvPr id="9" name="stat2"/>
          <p:cNvSpPr/>
          <p:nvPr/>
        </p:nvSpPr>
        <p:spPr>
          <a:xfrm>
            <a:off x="8101584" y="1554480"/>
            <a:ext cx="3474720" cy="3017520"/>
          </a:xfrm>
          <a:prstGeom prst="roundRect">
            <a:avLst>
              <a:gd name="adj" fmla="val 3636"/>
            </a:avLst>
          </a:prstGeom>
          <a:solidFill>
            <a:schemeClr val="bg2"/>
          </a:solidFill>
          <a:ln w="12700">
            <a:solidFill>
              <a:schemeClr val="bg2"/>
            </a:solidFill>
            <a:prstDash val="solid"/>
          </a:ln>
        </p:spPr>
      </p:sp>
      <p:sp>
        <p:nvSpPr>
          <p:cNvPr id="10" name="Text 8"/>
          <p:cNvSpPr txBox="1"/>
          <p:nvPr/>
        </p:nvSpPr>
        <p:spPr>
          <a:xfrm>
            <a:off x="8375904" y="1828800"/>
            <a:ext cx="3017520" cy="100584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8375904" y="3017520"/>
            <a:ext cx="2926080" cy="1371600"/>
          </a:xfrm>
          <a:prstGeom prst="rect">
            <a:avLst/>
          </a:prstGeom>
          <a:noFill/>
          <a:ln/>
        </p:spPr>
        <p:txBody>
          <a:bodyPr wrap="square" lIns="0" tIns="0" rIns="0" bIns="0" rtlCol="0" anchor="t"/>
          <a:lstStyle/>
          <a:p>
            <a:pPr indent="0" marL="0">
              <a:buNone/>
            </a:pPr>
            <a:r>
              <a:rPr lang="en-US" sz="1500" dirty="0">
                <a:solidFill>
                  <a:schemeClr val="tx1"/>
                </a:solidFill>
              </a:rPr>
              <a:t>deadlines moved after the change in direction</a:t>
            </a:r>
            <a:endParaRPr lang="en-US" sz="1500" dirty="0"/>
          </a:p>
        </p:txBody>
      </p:sp>
      <p:sp>
        <p:nvSpPr>
          <p:cNvPr id="12" name="Text 10"/>
          <p:cNvSpPr txBox="1"/>
          <p:nvPr/>
        </p:nvSpPr>
        <p:spPr>
          <a:xfrm>
            <a:off x="548640" y="4937760"/>
            <a:ext cx="11064240" cy="822960"/>
          </a:xfrm>
          <a:prstGeom prst="rect">
            <a:avLst/>
          </a:prstGeom>
          <a:noFill/>
          <a:ln/>
        </p:spPr>
        <p:txBody>
          <a:bodyPr wrap="square" lIns="0" tIns="0" rIns="0" bIns="0" rtlCol="0" anchor="t"/>
          <a:lstStyle/>
          <a:p>
            <a:pPr indent="0" marL="0">
              <a:buNone/>
            </a:pPr>
            <a:r>
              <a:rPr lang="en-US" sz="1800" i="1" dirty="0">
                <a:solidFill>
                  <a:schemeClr val="tx2"/>
                </a:solidFill>
              </a:rPr>
              <a:t>Recommendation: adopt Scrum across development teams in phases, while keeping room for a hybrid approach on fixed-scope work.</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Four roles, each with a clear job</a:t>
            </a:r>
            <a:endParaRPr lang="en-US" sz="3400" dirty="0"/>
          </a:p>
        </p:txBody>
      </p:sp>
      <p:sp>
        <p:nvSpPr>
          <p:cNvPr id="3" name="role0"/>
          <p:cNvSpPr/>
          <p:nvPr/>
        </p:nvSpPr>
        <p:spPr>
          <a:xfrm>
            <a:off x="548640" y="1463040"/>
            <a:ext cx="2606040" cy="4572000"/>
          </a:xfrm>
          <a:prstGeom prst="roundRect">
            <a:avLst>
              <a:gd name="adj" fmla="val 4211"/>
            </a:avLst>
          </a:prstGeom>
          <a:solidFill>
            <a:schemeClr val="bg2"/>
          </a:solidFill>
          <a:ln w="12700">
            <a:solidFill>
              <a:schemeClr val="bg2"/>
            </a:solidFill>
            <a:prstDash val="solid"/>
          </a:ln>
        </p:spPr>
      </p:sp>
      <p:sp>
        <p:nvSpPr>
          <p:cNvPr id="4" name="roleicon0"/>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822960"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Product Owner</a:t>
            </a:r>
            <a:endParaRPr lang="en-US" sz="2000" dirty="0"/>
          </a:p>
        </p:txBody>
      </p:sp>
      <p:sp>
        <p:nvSpPr>
          <p:cNvPr id="7" name="Text 4"/>
          <p:cNvSpPr txBox="1"/>
          <p:nvPr/>
        </p:nvSpPr>
        <p:spPr>
          <a:xfrm>
            <a:off x="822960" y="3200400"/>
            <a:ext cx="2103120" cy="1280160"/>
          </a:xfrm>
          <a:prstGeom prst="rect">
            <a:avLst/>
          </a:prstGeom>
          <a:noFill/>
          <a:ln/>
        </p:spPr>
        <p:txBody>
          <a:bodyPr wrap="square" lIns="0" tIns="0" rIns="0" bIns="0" rtlCol="0" anchor="t"/>
          <a:lstStyle/>
          <a:p>
            <a:pPr indent="0" marL="0">
              <a:buNone/>
            </a:pPr>
            <a:r>
              <a:rPr lang="en-US" sz="1500" dirty="0">
                <a:solidFill>
                  <a:schemeClr val="tx1"/>
                </a:solidFill>
              </a:rPr>
              <a:t>Represents the client, writes user stories, and orders the backlog by value.</a:t>
            </a:r>
            <a:endParaRPr lang="en-US" sz="1500" dirty="0"/>
          </a:p>
        </p:txBody>
      </p:sp>
      <p:sp>
        <p:nvSpPr>
          <p:cNvPr id="8" name="Text 5"/>
          <p:cNvSpPr txBox="1"/>
          <p:nvPr/>
        </p:nvSpPr>
        <p:spPr>
          <a:xfrm>
            <a:off x="822960" y="4526280"/>
            <a:ext cx="2103120" cy="1371600"/>
          </a:xfrm>
          <a:prstGeom prst="rect">
            <a:avLst/>
          </a:prstGeom>
          <a:noFill/>
          <a:ln/>
        </p:spPr>
        <p:txBody>
          <a:bodyPr wrap="square" lIns="0" tIns="0" rIns="0" bIns="0" rtlCol="0" anchor="t"/>
          <a:lstStyle/>
          <a:p>
            <a:pPr indent="0" marL="0">
              <a:buNone/>
            </a:pPr>
            <a:r>
              <a:rPr lang="en-US" sz="1400" i="1" dirty="0">
                <a:solidFill>
                  <a:schemeClr val="accent1"/>
                </a:solidFill>
              </a:rPr>
              <a:t>Why it matters: one voice decides priorities, so changes get handled quickly.</a:t>
            </a:r>
            <a:endParaRPr lang="en-US" sz="1400" dirty="0"/>
          </a:p>
        </p:txBody>
      </p:sp>
      <p:sp>
        <p:nvSpPr>
          <p:cNvPr id="9" name="role1"/>
          <p:cNvSpPr/>
          <p:nvPr/>
        </p:nvSpPr>
        <p:spPr>
          <a:xfrm>
            <a:off x="3383280" y="1463040"/>
            <a:ext cx="2606040" cy="4572000"/>
          </a:xfrm>
          <a:prstGeom prst="roundRect">
            <a:avLst>
              <a:gd name="adj" fmla="val 4211"/>
            </a:avLst>
          </a:prstGeom>
          <a:solidFill>
            <a:schemeClr val="bg2"/>
          </a:solidFill>
          <a:ln w="12700">
            <a:solidFill>
              <a:schemeClr val="bg2"/>
            </a:solidFill>
            <a:prstDash val="solid"/>
          </a:ln>
        </p:spPr>
      </p:sp>
      <p:sp>
        <p:nvSpPr>
          <p:cNvPr id="10" name="roleicon1"/>
          <p:cNvSpPr/>
          <p:nvPr/>
        </p:nvSpPr>
        <p:spPr>
          <a:xfrm>
            <a:off x="3657600" y="1737360"/>
            <a:ext cx="822960" cy="82296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863340" y="1943100"/>
            <a:ext cx="411480" cy="411480"/>
          </a:xfrm>
          <a:prstGeom prst="rect">
            <a:avLst/>
          </a:prstGeom>
        </p:spPr>
      </p:pic>
      <p:sp>
        <p:nvSpPr>
          <p:cNvPr id="12" name="Text 8"/>
          <p:cNvSpPr txBox="1"/>
          <p:nvPr/>
        </p:nvSpPr>
        <p:spPr>
          <a:xfrm>
            <a:off x="3657600"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Scrum Master</a:t>
            </a:r>
            <a:endParaRPr lang="en-US" sz="2000" dirty="0"/>
          </a:p>
        </p:txBody>
      </p:sp>
      <p:sp>
        <p:nvSpPr>
          <p:cNvPr id="13" name="Text 9"/>
          <p:cNvSpPr txBox="1"/>
          <p:nvPr/>
        </p:nvSpPr>
        <p:spPr>
          <a:xfrm>
            <a:off x="3657600" y="3200400"/>
            <a:ext cx="2103120" cy="1280160"/>
          </a:xfrm>
          <a:prstGeom prst="rect">
            <a:avLst/>
          </a:prstGeom>
          <a:noFill/>
          <a:ln/>
        </p:spPr>
        <p:txBody>
          <a:bodyPr wrap="square" lIns="0" tIns="0" rIns="0" bIns="0" rtlCol="0" anchor="t"/>
          <a:lstStyle/>
          <a:p>
            <a:pPr indent="0" marL="0">
              <a:buNone/>
            </a:pPr>
            <a:r>
              <a:rPr lang="en-US" sz="1500" dirty="0">
                <a:solidFill>
                  <a:schemeClr val="tx1"/>
                </a:solidFill>
              </a:rPr>
              <a:t>Coaches the team on Scrum, runs the events, and removes blockers.</a:t>
            </a:r>
            <a:endParaRPr lang="en-US" sz="1500" dirty="0"/>
          </a:p>
        </p:txBody>
      </p:sp>
      <p:sp>
        <p:nvSpPr>
          <p:cNvPr id="14" name="Text 10"/>
          <p:cNvSpPr txBox="1"/>
          <p:nvPr/>
        </p:nvSpPr>
        <p:spPr>
          <a:xfrm>
            <a:off x="3657600" y="4526280"/>
            <a:ext cx="2103120" cy="1371600"/>
          </a:xfrm>
          <a:prstGeom prst="rect">
            <a:avLst/>
          </a:prstGeom>
          <a:noFill/>
          <a:ln/>
        </p:spPr>
        <p:txBody>
          <a:bodyPr wrap="square" lIns="0" tIns="0" rIns="0" bIns="0" rtlCol="0" anchor="t"/>
          <a:lstStyle/>
          <a:p>
            <a:pPr indent="0" marL="0">
              <a:buNone/>
            </a:pPr>
            <a:r>
              <a:rPr lang="en-US" sz="1400" i="1" dirty="0">
                <a:solidFill>
                  <a:schemeClr val="accent1"/>
                </a:solidFill>
              </a:rPr>
              <a:t>Why it matters: protects the sprint from interruptions and keeps work visible.</a:t>
            </a:r>
            <a:endParaRPr lang="en-US" sz="1400" dirty="0"/>
          </a:p>
        </p:txBody>
      </p:sp>
      <p:sp>
        <p:nvSpPr>
          <p:cNvPr id="15" name="role2"/>
          <p:cNvSpPr/>
          <p:nvPr/>
        </p:nvSpPr>
        <p:spPr>
          <a:xfrm>
            <a:off x="6217920" y="1463040"/>
            <a:ext cx="2606040" cy="4572000"/>
          </a:xfrm>
          <a:prstGeom prst="roundRect">
            <a:avLst>
              <a:gd name="adj" fmla="val 4211"/>
            </a:avLst>
          </a:prstGeom>
          <a:solidFill>
            <a:schemeClr val="bg2"/>
          </a:solidFill>
          <a:ln w="12700">
            <a:solidFill>
              <a:schemeClr val="bg2"/>
            </a:solidFill>
            <a:prstDash val="solid"/>
          </a:ln>
        </p:spPr>
      </p:sp>
      <p:sp>
        <p:nvSpPr>
          <p:cNvPr id="16" name="roleicon2"/>
          <p:cNvSpPr/>
          <p:nvPr/>
        </p:nvSpPr>
        <p:spPr>
          <a:xfrm>
            <a:off x="6492240" y="1737360"/>
            <a:ext cx="822960" cy="822960"/>
          </a:xfrm>
          <a:prstGeom prst="ellipse">
            <a:avLst/>
          </a:prstGeom>
          <a:solidFill>
            <a:schemeClr val="accent6"/>
          </a:solidFill>
          <a:ln w="12700">
            <a:solidFill>
              <a:schemeClr val="accent6"/>
            </a:solidFill>
            <a:prstDash val="solid"/>
          </a:ln>
        </p:spPr>
      </p:sp>
      <p:pic>
        <p:nvPicPr>
          <p:cNvPr id="17" name="Image 2" descr="preencoded.png">    </p:cNvPr>
          <p:cNvPicPr>
            <a:picLocks noChangeAspect="1"/>
          </p:cNvPicPr>
          <p:nvPr/>
        </p:nvPicPr>
        <p:blipFill>
          <a:blip r:embed="rId3"/>
          <a:stretch>
            <a:fillRect/>
          </a:stretch>
        </p:blipFill>
        <p:spPr>
          <a:xfrm>
            <a:off x="6697980" y="1943100"/>
            <a:ext cx="411480" cy="411480"/>
          </a:xfrm>
          <a:prstGeom prst="rect">
            <a:avLst/>
          </a:prstGeom>
        </p:spPr>
      </p:pic>
      <p:sp>
        <p:nvSpPr>
          <p:cNvPr id="18" name="Text 13"/>
          <p:cNvSpPr txBox="1"/>
          <p:nvPr/>
        </p:nvSpPr>
        <p:spPr>
          <a:xfrm>
            <a:off x="6492240"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Developers</a:t>
            </a:r>
            <a:endParaRPr lang="en-US" sz="2000" dirty="0"/>
          </a:p>
        </p:txBody>
      </p:sp>
      <p:sp>
        <p:nvSpPr>
          <p:cNvPr id="19" name="Text 14"/>
          <p:cNvSpPr txBox="1"/>
          <p:nvPr/>
        </p:nvSpPr>
        <p:spPr>
          <a:xfrm>
            <a:off x="6492240" y="3200400"/>
            <a:ext cx="2103120" cy="1280160"/>
          </a:xfrm>
          <a:prstGeom prst="rect">
            <a:avLst/>
          </a:prstGeom>
          <a:noFill/>
          <a:ln/>
        </p:spPr>
        <p:txBody>
          <a:bodyPr wrap="square" lIns="0" tIns="0" rIns="0" bIns="0" rtlCol="0" anchor="t"/>
          <a:lstStyle/>
          <a:p>
            <a:pPr indent="0" marL="0">
              <a:buNone/>
            </a:pPr>
            <a:r>
              <a:rPr lang="en-US" sz="1500" dirty="0">
                <a:solidFill>
                  <a:schemeClr val="tx1"/>
                </a:solidFill>
              </a:rPr>
              <a:t>Turn stories into working, modular code each sprint and flag problems early.</a:t>
            </a:r>
            <a:endParaRPr lang="en-US" sz="1500" dirty="0"/>
          </a:p>
        </p:txBody>
      </p:sp>
      <p:sp>
        <p:nvSpPr>
          <p:cNvPr id="20" name="Text 15"/>
          <p:cNvSpPr txBox="1"/>
          <p:nvPr/>
        </p:nvSpPr>
        <p:spPr>
          <a:xfrm>
            <a:off x="6492240" y="4526280"/>
            <a:ext cx="2103120" cy="1371600"/>
          </a:xfrm>
          <a:prstGeom prst="rect">
            <a:avLst/>
          </a:prstGeom>
          <a:noFill/>
          <a:ln/>
        </p:spPr>
        <p:txBody>
          <a:bodyPr wrap="square" lIns="0" tIns="0" rIns="0" bIns="0" rtlCol="0" anchor="t"/>
          <a:lstStyle/>
          <a:p>
            <a:pPr indent="0" marL="0">
              <a:buNone/>
            </a:pPr>
            <a:r>
              <a:rPr lang="en-US" sz="1400" i="1" dirty="0">
                <a:solidFill>
                  <a:schemeClr val="accent1"/>
                </a:solidFill>
              </a:rPr>
              <a:t>Why it matters: small increments mean feedback arrives in weeks, not months.</a:t>
            </a:r>
            <a:endParaRPr lang="en-US" sz="1400" dirty="0"/>
          </a:p>
        </p:txBody>
      </p:sp>
      <p:sp>
        <p:nvSpPr>
          <p:cNvPr id="21" name="role3"/>
          <p:cNvSpPr/>
          <p:nvPr/>
        </p:nvSpPr>
        <p:spPr>
          <a:xfrm>
            <a:off x="9052560" y="1463040"/>
            <a:ext cx="2606040" cy="4572000"/>
          </a:xfrm>
          <a:prstGeom prst="roundRect">
            <a:avLst>
              <a:gd name="adj" fmla="val 4211"/>
            </a:avLst>
          </a:prstGeom>
          <a:solidFill>
            <a:schemeClr val="bg2"/>
          </a:solidFill>
          <a:ln w="12700">
            <a:solidFill>
              <a:schemeClr val="bg2"/>
            </a:solidFill>
            <a:prstDash val="solid"/>
          </a:ln>
        </p:spPr>
      </p:sp>
      <p:sp>
        <p:nvSpPr>
          <p:cNvPr id="22" name="roleicon3"/>
          <p:cNvSpPr/>
          <p:nvPr/>
        </p:nvSpPr>
        <p:spPr>
          <a:xfrm>
            <a:off x="9326880" y="1737360"/>
            <a:ext cx="822960" cy="822960"/>
          </a:xfrm>
          <a:prstGeom prst="ellipse">
            <a:avLst/>
          </a:prstGeom>
          <a:solidFill>
            <a:schemeClr val="accent4"/>
          </a:solidFill>
          <a:ln w="12700">
            <a:solidFill>
              <a:schemeClr val="accent4"/>
            </a:solidFill>
            <a:prstDash val="solid"/>
          </a:ln>
        </p:spPr>
      </p:sp>
      <p:pic>
        <p:nvPicPr>
          <p:cNvPr id="23" name="Image 3" descr="preencoded.png">    </p:cNvPr>
          <p:cNvPicPr>
            <a:picLocks noChangeAspect="1"/>
          </p:cNvPicPr>
          <p:nvPr/>
        </p:nvPicPr>
        <p:blipFill>
          <a:blip r:embed="rId4"/>
          <a:stretch>
            <a:fillRect/>
          </a:stretch>
        </p:blipFill>
        <p:spPr>
          <a:xfrm>
            <a:off x="9532620" y="1943100"/>
            <a:ext cx="411480" cy="411480"/>
          </a:xfrm>
          <a:prstGeom prst="rect">
            <a:avLst/>
          </a:prstGeom>
        </p:spPr>
      </p:pic>
      <p:sp>
        <p:nvSpPr>
          <p:cNvPr id="24" name="Text 18"/>
          <p:cNvSpPr txBox="1"/>
          <p:nvPr/>
        </p:nvSpPr>
        <p:spPr>
          <a:xfrm>
            <a:off x="9326880" y="2697480"/>
            <a:ext cx="21031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Testers</a:t>
            </a:r>
            <a:endParaRPr lang="en-US" sz="2000" dirty="0"/>
          </a:p>
        </p:txBody>
      </p:sp>
      <p:sp>
        <p:nvSpPr>
          <p:cNvPr id="25" name="Text 19"/>
          <p:cNvSpPr txBox="1"/>
          <p:nvPr/>
        </p:nvSpPr>
        <p:spPr>
          <a:xfrm>
            <a:off x="9326880" y="3200400"/>
            <a:ext cx="2103120" cy="1280160"/>
          </a:xfrm>
          <a:prstGeom prst="rect">
            <a:avLst/>
          </a:prstGeom>
          <a:noFill/>
          <a:ln/>
        </p:spPr>
        <p:txBody>
          <a:bodyPr wrap="square" lIns="0" tIns="0" rIns="0" bIns="0" rtlCol="0" anchor="t"/>
          <a:lstStyle/>
          <a:p>
            <a:pPr indent="0" marL="0">
              <a:buNone/>
            </a:pPr>
            <a:r>
              <a:rPr lang="en-US" sz="1500" dirty="0">
                <a:solidFill>
                  <a:schemeClr val="tx1"/>
                </a:solidFill>
              </a:rPr>
              <a:t>Write test cases from acceptance criteria and test alongside development.</a:t>
            </a:r>
            <a:endParaRPr lang="en-US" sz="1500" dirty="0"/>
          </a:p>
        </p:txBody>
      </p:sp>
      <p:sp>
        <p:nvSpPr>
          <p:cNvPr id="26" name="Text 20"/>
          <p:cNvSpPr txBox="1"/>
          <p:nvPr/>
        </p:nvSpPr>
        <p:spPr>
          <a:xfrm>
            <a:off x="9326880" y="4526280"/>
            <a:ext cx="2103120" cy="1371600"/>
          </a:xfrm>
          <a:prstGeom prst="rect">
            <a:avLst/>
          </a:prstGeom>
          <a:noFill/>
          <a:ln/>
        </p:spPr>
        <p:txBody>
          <a:bodyPr wrap="square" lIns="0" tIns="0" rIns="0" bIns="0" rtlCol="0" anchor="t"/>
          <a:lstStyle/>
          <a:p>
            <a:pPr indent="0" marL="0">
              <a:buNone/>
            </a:pPr>
            <a:r>
              <a:rPr lang="en-US" sz="1400" i="1" dirty="0">
                <a:solidFill>
                  <a:schemeClr val="accent1"/>
                </a:solidFill>
              </a:rPr>
              <a:t>Why it matters: quality is built in early instead of checked at the end.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Every sprint runs the full SDLC on a small slice</a:t>
            </a:r>
            <a:endParaRPr lang="en-US" sz="3400" dirty="0"/>
          </a:p>
        </p:txBody>
      </p:sp>
      <p:sp>
        <p:nvSpPr>
          <p:cNvPr id="3" name="phase0"/>
          <p:cNvSpPr/>
          <p:nvPr/>
        </p:nvSpPr>
        <p:spPr>
          <a:xfrm>
            <a:off x="960120" y="1554480"/>
            <a:ext cx="914400" cy="91440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1188720" y="1783080"/>
            <a:ext cx="457200" cy="457200"/>
          </a:xfrm>
          <a:prstGeom prst="rect">
            <a:avLst/>
          </a:prstGeom>
        </p:spPr>
      </p:pic>
      <p:sp>
        <p:nvSpPr>
          <p:cNvPr id="5" name="arrow0"/>
          <p:cNvSpPr/>
          <p:nvPr/>
        </p:nvSpPr>
        <p:spPr>
          <a:xfrm>
            <a:off x="2011680" y="1874520"/>
            <a:ext cx="365760" cy="274320"/>
          </a:xfrm>
          <a:prstGeom prst="rightArrow">
            <a:avLst/>
          </a:prstGeom>
          <a:solidFill>
            <a:schemeClr val="accent3"/>
          </a:solidFill>
          <a:ln w="12700">
            <a:solidFill>
              <a:schemeClr val="accent3"/>
            </a:solidFill>
            <a:prstDash val="solid"/>
          </a:ln>
        </p:spPr>
      </p:sp>
      <p:sp>
        <p:nvSpPr>
          <p:cNvPr id="6" name="Text 3"/>
          <p:cNvSpPr txBox="1"/>
          <p:nvPr/>
        </p:nvSpPr>
        <p:spPr>
          <a:xfrm>
            <a:off x="54864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1. Plan</a:t>
            </a:r>
            <a:endParaRPr lang="en-US" sz="1800" dirty="0"/>
          </a:p>
        </p:txBody>
      </p:sp>
      <p:sp>
        <p:nvSpPr>
          <p:cNvPr id="7" name="Text 4"/>
          <p:cNvSpPr txBox="1"/>
          <p:nvPr/>
        </p:nvSpPr>
        <p:spPr>
          <a:xfrm>
            <a:off x="54864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Pick the highest-value stories and estimate them with story points.</a:t>
            </a:r>
            <a:endParaRPr lang="en-US" sz="1400" dirty="0"/>
          </a:p>
        </p:txBody>
      </p:sp>
      <p:sp>
        <p:nvSpPr>
          <p:cNvPr id="8" name="phase1"/>
          <p:cNvSpPr/>
          <p:nvPr/>
        </p:nvSpPr>
        <p:spPr>
          <a:xfrm>
            <a:off x="2834640" y="1554480"/>
            <a:ext cx="914400" cy="914400"/>
          </a:xfrm>
          <a:prstGeom prst="ellipse">
            <a:avLst/>
          </a:prstGeom>
          <a:solidFill>
            <a:schemeClr val="accent6"/>
          </a:solidFill>
          <a:ln w="12700">
            <a:solidFill>
              <a:schemeClr val="accent6"/>
            </a:solidFill>
            <a:prstDash val="solid"/>
          </a:ln>
        </p:spPr>
      </p:sp>
      <p:pic>
        <p:nvPicPr>
          <p:cNvPr id="9" name="Image 1" descr="preencoded.png">    </p:cNvPr>
          <p:cNvPicPr>
            <a:picLocks noChangeAspect="1"/>
          </p:cNvPicPr>
          <p:nvPr/>
        </p:nvPicPr>
        <p:blipFill>
          <a:blip r:embed="rId2"/>
          <a:stretch>
            <a:fillRect/>
          </a:stretch>
        </p:blipFill>
        <p:spPr>
          <a:xfrm>
            <a:off x="3063240" y="1783080"/>
            <a:ext cx="457200" cy="457200"/>
          </a:xfrm>
          <a:prstGeom prst="rect">
            <a:avLst/>
          </a:prstGeom>
        </p:spPr>
      </p:pic>
      <p:sp>
        <p:nvSpPr>
          <p:cNvPr id="10" name="arrow1"/>
          <p:cNvSpPr/>
          <p:nvPr/>
        </p:nvSpPr>
        <p:spPr>
          <a:xfrm>
            <a:off x="3886200" y="1874520"/>
            <a:ext cx="365760" cy="274320"/>
          </a:xfrm>
          <a:prstGeom prst="rightArrow">
            <a:avLst/>
          </a:prstGeom>
          <a:solidFill>
            <a:schemeClr val="accent3"/>
          </a:solidFill>
          <a:ln w="12700">
            <a:solidFill>
              <a:schemeClr val="accent3"/>
            </a:solidFill>
            <a:prstDash val="solid"/>
          </a:ln>
        </p:spPr>
      </p:sp>
      <p:sp>
        <p:nvSpPr>
          <p:cNvPr id="11" name="Text 7"/>
          <p:cNvSpPr txBox="1"/>
          <p:nvPr/>
        </p:nvSpPr>
        <p:spPr>
          <a:xfrm>
            <a:off x="242316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 Design</a:t>
            </a:r>
            <a:endParaRPr lang="en-US" sz="1800" dirty="0"/>
          </a:p>
        </p:txBody>
      </p:sp>
      <p:sp>
        <p:nvSpPr>
          <p:cNvPr id="12" name="Text 8"/>
          <p:cNvSpPr txBox="1"/>
          <p:nvPr/>
        </p:nvSpPr>
        <p:spPr>
          <a:xfrm>
            <a:off x="242316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Design just enough for this sprint's stories.</a:t>
            </a:r>
            <a:endParaRPr lang="en-US" sz="1400" dirty="0"/>
          </a:p>
        </p:txBody>
      </p:sp>
      <p:sp>
        <p:nvSpPr>
          <p:cNvPr id="13" name="phase2"/>
          <p:cNvSpPr/>
          <p:nvPr/>
        </p:nvSpPr>
        <p:spPr>
          <a:xfrm>
            <a:off x="4709160" y="1554480"/>
            <a:ext cx="914400" cy="914400"/>
          </a:xfrm>
          <a:prstGeom prst="ellipse">
            <a:avLst/>
          </a:prstGeom>
          <a:solidFill>
            <a:schemeClr val="accent2"/>
          </a:solidFill>
          <a:ln w="12700">
            <a:solidFill>
              <a:schemeClr val="accent2"/>
            </a:solidFill>
            <a:prstDash val="solid"/>
          </a:ln>
        </p:spPr>
      </p:sp>
      <p:pic>
        <p:nvPicPr>
          <p:cNvPr id="14" name="Image 2" descr="preencoded.png">    </p:cNvPr>
          <p:cNvPicPr>
            <a:picLocks noChangeAspect="1"/>
          </p:cNvPicPr>
          <p:nvPr/>
        </p:nvPicPr>
        <p:blipFill>
          <a:blip r:embed="rId3"/>
          <a:stretch>
            <a:fillRect/>
          </a:stretch>
        </p:blipFill>
        <p:spPr>
          <a:xfrm>
            <a:off x="4937760" y="1783080"/>
            <a:ext cx="457200" cy="457200"/>
          </a:xfrm>
          <a:prstGeom prst="rect">
            <a:avLst/>
          </a:prstGeom>
        </p:spPr>
      </p:pic>
      <p:sp>
        <p:nvSpPr>
          <p:cNvPr id="15" name="arrow2"/>
          <p:cNvSpPr/>
          <p:nvPr/>
        </p:nvSpPr>
        <p:spPr>
          <a:xfrm>
            <a:off x="5760720" y="1874520"/>
            <a:ext cx="365760" cy="274320"/>
          </a:xfrm>
          <a:prstGeom prst="rightArrow">
            <a:avLst/>
          </a:prstGeom>
          <a:solidFill>
            <a:schemeClr val="accent3"/>
          </a:solidFill>
          <a:ln w="12700">
            <a:solidFill>
              <a:schemeClr val="accent3"/>
            </a:solidFill>
            <a:prstDash val="solid"/>
          </a:ln>
        </p:spPr>
      </p:sp>
      <p:sp>
        <p:nvSpPr>
          <p:cNvPr id="16" name="Text 11"/>
          <p:cNvSpPr txBox="1"/>
          <p:nvPr/>
        </p:nvSpPr>
        <p:spPr>
          <a:xfrm>
            <a:off x="429768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3. Develop</a:t>
            </a:r>
            <a:endParaRPr lang="en-US" sz="1800" dirty="0"/>
          </a:p>
        </p:txBody>
      </p:sp>
      <p:sp>
        <p:nvSpPr>
          <p:cNvPr id="17" name="Text 12"/>
          <p:cNvSpPr txBox="1"/>
          <p:nvPr/>
        </p:nvSpPr>
        <p:spPr>
          <a:xfrm>
            <a:off x="429768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Build working code in small, modular pieces.</a:t>
            </a:r>
            <a:endParaRPr lang="en-US" sz="1400" dirty="0"/>
          </a:p>
        </p:txBody>
      </p:sp>
      <p:sp>
        <p:nvSpPr>
          <p:cNvPr id="18" name="phase3"/>
          <p:cNvSpPr/>
          <p:nvPr/>
        </p:nvSpPr>
        <p:spPr>
          <a:xfrm>
            <a:off x="6583680" y="1554480"/>
            <a:ext cx="914400" cy="914400"/>
          </a:xfrm>
          <a:prstGeom prst="ellipse">
            <a:avLst/>
          </a:prstGeom>
          <a:solidFill>
            <a:schemeClr val="accent4"/>
          </a:solidFill>
          <a:ln w="12700">
            <a:solidFill>
              <a:schemeClr val="accent4"/>
            </a:solidFill>
            <a:prstDash val="solid"/>
          </a:ln>
        </p:spPr>
      </p:sp>
      <p:pic>
        <p:nvPicPr>
          <p:cNvPr id="19" name="Image 3" descr="preencoded.png">    </p:cNvPr>
          <p:cNvPicPr>
            <a:picLocks noChangeAspect="1"/>
          </p:cNvPicPr>
          <p:nvPr/>
        </p:nvPicPr>
        <p:blipFill>
          <a:blip r:embed="rId4"/>
          <a:stretch>
            <a:fillRect/>
          </a:stretch>
        </p:blipFill>
        <p:spPr>
          <a:xfrm>
            <a:off x="6812280" y="1783080"/>
            <a:ext cx="457200" cy="457200"/>
          </a:xfrm>
          <a:prstGeom prst="rect">
            <a:avLst/>
          </a:prstGeom>
        </p:spPr>
      </p:pic>
      <p:sp>
        <p:nvSpPr>
          <p:cNvPr id="20" name="arrow3"/>
          <p:cNvSpPr/>
          <p:nvPr/>
        </p:nvSpPr>
        <p:spPr>
          <a:xfrm>
            <a:off x="7635240" y="1874520"/>
            <a:ext cx="365760" cy="274320"/>
          </a:xfrm>
          <a:prstGeom prst="rightArrow">
            <a:avLst/>
          </a:prstGeom>
          <a:solidFill>
            <a:schemeClr val="accent3"/>
          </a:solidFill>
          <a:ln w="12700">
            <a:solidFill>
              <a:schemeClr val="accent3"/>
            </a:solidFill>
            <a:prstDash val="solid"/>
          </a:ln>
        </p:spPr>
      </p:sp>
      <p:sp>
        <p:nvSpPr>
          <p:cNvPr id="21" name="Text 15"/>
          <p:cNvSpPr txBox="1"/>
          <p:nvPr/>
        </p:nvSpPr>
        <p:spPr>
          <a:xfrm>
            <a:off x="617220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4. Test</a:t>
            </a:r>
            <a:endParaRPr lang="en-US" sz="1800" dirty="0"/>
          </a:p>
        </p:txBody>
      </p:sp>
      <p:sp>
        <p:nvSpPr>
          <p:cNvPr id="22" name="Text 16"/>
          <p:cNvSpPr txBox="1"/>
          <p:nvPr/>
        </p:nvSpPr>
        <p:spPr>
          <a:xfrm>
            <a:off x="617220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Test against acceptance criteria during the sprint.</a:t>
            </a:r>
            <a:endParaRPr lang="en-US" sz="1400" dirty="0"/>
          </a:p>
        </p:txBody>
      </p:sp>
      <p:sp>
        <p:nvSpPr>
          <p:cNvPr id="23" name="phase4"/>
          <p:cNvSpPr/>
          <p:nvPr/>
        </p:nvSpPr>
        <p:spPr>
          <a:xfrm>
            <a:off x="8458200" y="1554480"/>
            <a:ext cx="914400" cy="914400"/>
          </a:xfrm>
          <a:prstGeom prst="ellipse">
            <a:avLst/>
          </a:prstGeom>
          <a:solidFill>
            <a:schemeClr val="accent5"/>
          </a:solidFill>
          <a:ln w="12700">
            <a:solidFill>
              <a:schemeClr val="accent5"/>
            </a:solidFill>
            <a:prstDash val="solid"/>
          </a:ln>
        </p:spPr>
      </p:sp>
      <p:pic>
        <p:nvPicPr>
          <p:cNvPr id="24" name="Image 4" descr="preencoded.png">    </p:cNvPr>
          <p:cNvPicPr>
            <a:picLocks noChangeAspect="1"/>
          </p:cNvPicPr>
          <p:nvPr/>
        </p:nvPicPr>
        <p:blipFill>
          <a:blip r:embed="rId5"/>
          <a:stretch>
            <a:fillRect/>
          </a:stretch>
        </p:blipFill>
        <p:spPr>
          <a:xfrm>
            <a:off x="8686800" y="1783080"/>
            <a:ext cx="457200" cy="457200"/>
          </a:xfrm>
          <a:prstGeom prst="rect">
            <a:avLst/>
          </a:prstGeom>
        </p:spPr>
      </p:pic>
      <p:sp>
        <p:nvSpPr>
          <p:cNvPr id="25" name="arrow4"/>
          <p:cNvSpPr/>
          <p:nvPr/>
        </p:nvSpPr>
        <p:spPr>
          <a:xfrm>
            <a:off x="9509760" y="1874520"/>
            <a:ext cx="365760" cy="274320"/>
          </a:xfrm>
          <a:prstGeom prst="rightArrow">
            <a:avLst/>
          </a:prstGeom>
          <a:solidFill>
            <a:schemeClr val="accent3"/>
          </a:solidFill>
          <a:ln w="12700">
            <a:solidFill>
              <a:schemeClr val="accent3"/>
            </a:solidFill>
            <a:prstDash val="solid"/>
          </a:ln>
        </p:spPr>
      </p:sp>
      <p:sp>
        <p:nvSpPr>
          <p:cNvPr id="26" name="Text 19"/>
          <p:cNvSpPr txBox="1"/>
          <p:nvPr/>
        </p:nvSpPr>
        <p:spPr>
          <a:xfrm>
            <a:off x="804672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5. Deploy</a:t>
            </a:r>
            <a:endParaRPr lang="en-US" sz="1800" dirty="0"/>
          </a:p>
        </p:txBody>
      </p:sp>
      <p:sp>
        <p:nvSpPr>
          <p:cNvPr id="27" name="Text 20"/>
          <p:cNvSpPr txBox="1"/>
          <p:nvPr/>
        </p:nvSpPr>
        <p:spPr>
          <a:xfrm>
            <a:off x="804672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Release a working increment the client can see.</a:t>
            </a:r>
            <a:endParaRPr lang="en-US" sz="1400" dirty="0"/>
          </a:p>
        </p:txBody>
      </p:sp>
      <p:sp>
        <p:nvSpPr>
          <p:cNvPr id="28" name="phase5"/>
          <p:cNvSpPr/>
          <p:nvPr/>
        </p:nvSpPr>
        <p:spPr>
          <a:xfrm>
            <a:off x="10332720" y="1554480"/>
            <a:ext cx="914400" cy="914400"/>
          </a:xfrm>
          <a:prstGeom prst="ellipse">
            <a:avLst/>
          </a:prstGeom>
          <a:solidFill>
            <a:schemeClr val="tx2"/>
          </a:solidFill>
          <a:ln w="12700">
            <a:solidFill>
              <a:schemeClr val="tx2"/>
            </a:solidFill>
            <a:prstDash val="solid"/>
          </a:ln>
        </p:spPr>
      </p:sp>
      <p:pic>
        <p:nvPicPr>
          <p:cNvPr id="29" name="Image 5" descr="preencoded.png">    </p:cNvPr>
          <p:cNvPicPr>
            <a:picLocks noChangeAspect="1"/>
          </p:cNvPicPr>
          <p:nvPr/>
        </p:nvPicPr>
        <p:blipFill>
          <a:blip r:embed="rId6"/>
          <a:stretch>
            <a:fillRect/>
          </a:stretch>
        </p:blipFill>
        <p:spPr>
          <a:xfrm>
            <a:off x="10561320" y="1783080"/>
            <a:ext cx="457200" cy="457200"/>
          </a:xfrm>
          <a:prstGeom prst="rect">
            <a:avLst/>
          </a:prstGeom>
        </p:spPr>
      </p:pic>
      <p:sp>
        <p:nvSpPr>
          <p:cNvPr id="30" name="Text 22"/>
          <p:cNvSpPr txBox="1"/>
          <p:nvPr/>
        </p:nvSpPr>
        <p:spPr>
          <a:xfrm>
            <a:off x="9921240" y="2651760"/>
            <a:ext cx="173736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6. Review</a:t>
            </a:r>
            <a:endParaRPr lang="en-US" sz="1800" dirty="0"/>
          </a:p>
        </p:txBody>
      </p:sp>
      <p:sp>
        <p:nvSpPr>
          <p:cNvPr id="31" name="Text 23"/>
          <p:cNvSpPr txBox="1"/>
          <p:nvPr/>
        </p:nvSpPr>
        <p:spPr>
          <a:xfrm>
            <a:off x="9921240" y="315468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Get client feedback in the Sprint Review, then improve in the Retrospective.</a:t>
            </a:r>
            <a:endParaRPr lang="en-US" sz="1400" dirty="0"/>
          </a:p>
        </p:txBody>
      </p:sp>
      <p:sp>
        <p:nvSpPr>
          <p:cNvPr id="32" name="phasenote"/>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sp>
      <p:sp>
        <p:nvSpPr>
          <p:cNvPr id="33" name="Text 25"/>
          <p:cNvSpPr txBox="1"/>
          <p:nvPr/>
        </p:nvSpPr>
        <p:spPr>
          <a:xfrm>
            <a:off x="822960" y="5166360"/>
            <a:ext cx="10515600" cy="731520"/>
          </a:xfrm>
          <a:prstGeom prst="rect">
            <a:avLst/>
          </a:prstGeom>
          <a:noFill/>
          <a:ln/>
        </p:spPr>
        <p:txBody>
          <a:bodyPr wrap="square" lIns="0" tIns="0" rIns="0" bIns="0" rtlCol="0" anchor="ctr"/>
          <a:lstStyle/>
          <a:p>
            <a:pPr indent="0" marL="0">
              <a:buNone/>
            </a:pPr>
            <a:r>
              <a:rPr lang="en-US" sz="1600" dirty="0">
                <a:solidFill>
                  <a:schemeClr val="tx2"/>
                </a:solidFill>
              </a:rPr>
              <a:t>In waterfall, each phase happens once for the whole project. In Agile, the cycle repeats every sprint, so mistakes and changes surface early.</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Waterfall and Agile handle work differently</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4343400"/>
                <a:gridCol w="4343400"/>
              </a:tblGrid>
              <a:tr h="640080">
                <a:tc>
                  <a:txBody>
                    <a:bodyPr/>
                    <a:lstStyle/>
                    <a:p>
                      <a:pPr indent="0" marL="0">
                        <a:buNone/>
                      </a:pP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b="1" dirty="0">
                          <a:solidFill>
                            <a:schemeClr val="bg1"/>
                          </a:solidFill>
                        </a:rPr>
                        <a:t>Waterfall</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indent="0" marL="0">
                        <a:buNone/>
                      </a:pPr>
                      <a:r>
                        <a:rPr lang="en-US" sz="1600" b="1" dirty="0">
                          <a:solidFill>
                            <a:schemeClr val="bg1"/>
                          </a:solidFill>
                        </a:rPr>
                        <a:t>Scrum-Agile</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accent1"/>
                    </a:solidFill>
                  </a:tcPr>
                </a:tc>
              </a:tr>
              <a:tr h="640080">
                <a:tc>
                  <a:txBody>
                    <a:bodyPr/>
                    <a:lstStyle/>
                    <a:p>
                      <a:pPr indent="0" marL="0">
                        <a:buNone/>
                      </a:pPr>
                      <a:r>
                        <a:rPr lang="en-US" sz="1600" b="1" dirty="0">
                          <a:solidFill>
                            <a:schemeClr val="tx2"/>
                          </a:solidFill>
                        </a:rPr>
                        <a:t>Requirements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Locked at the start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Refined every sprint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600" b="1" dirty="0">
                          <a:solidFill>
                            <a:schemeClr val="tx2"/>
                          </a:solidFill>
                        </a:rPr>
                        <a:t>Testing</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A phase near the end</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Built into every sprint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600" b="1" dirty="0">
                          <a:solidFill>
                            <a:schemeClr val="tx2"/>
                          </a:solidFill>
                        </a:rPr>
                        <a:t>Customer</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Involved at start and finish</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Reviews working software each sprint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600" b="1" dirty="0">
                          <a:solidFill>
                            <a:schemeClr val="tx2"/>
                          </a:solidFill>
                        </a:rPr>
                        <a:t>Change</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Expensive; reopens earlier phases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Expected; handled through the backlog</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600" b="1" dirty="0">
                          <a:solidFill>
                            <a:schemeClr val="tx2"/>
                          </a:solidFill>
                        </a:rPr>
                        <a:t>Delivery</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One large release</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Small, frequent increments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The wellness pivot: waterfall vs. Agile</a:t>
            </a:r>
            <a:endParaRPr lang="en-US" sz="3400" dirty="0"/>
          </a:p>
        </p:txBody>
      </p:sp>
      <p:sp>
        <p:nvSpPr>
          <p:cNvPr id="3" name="Text 1"/>
          <p:cNvSpPr txBox="1"/>
          <p:nvPr/>
        </p:nvSpPr>
        <p:spPr>
          <a:xfrm>
            <a:off x="548640" y="1463040"/>
            <a:ext cx="1737360" cy="91440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Waterfall</a:t>
            </a:r>
            <a:endParaRPr lang="en-US" sz="1800" dirty="0"/>
          </a:p>
        </p:txBody>
      </p:sp>
      <p:sp>
        <p:nvSpPr>
          <p:cNvPr id="4" name="stepWaterfall0"/>
          <p:cNvSpPr/>
          <p:nvPr/>
        </p:nvSpPr>
        <p:spPr>
          <a:xfrm>
            <a:off x="2377440" y="1463040"/>
            <a:ext cx="1691640" cy="914400"/>
          </a:xfrm>
          <a:prstGeom prst="roundRect">
            <a:avLst>
              <a:gd name="adj" fmla="val 12000"/>
            </a:avLst>
          </a:prstGeom>
          <a:solidFill>
            <a:schemeClr val="bg2"/>
          </a:solidFill>
          <a:ln w="12700">
            <a:solidFill>
              <a:schemeClr val="bg2"/>
            </a:solidFill>
            <a:prstDash val="solid"/>
          </a:ln>
        </p:spPr>
      </p:sp>
      <p:sp>
        <p:nvSpPr>
          <p:cNvPr id="5" name="Text 3"/>
          <p:cNvSpPr txBox="1"/>
          <p:nvPr/>
        </p:nvSpPr>
        <p:spPr>
          <a:xfrm>
            <a:off x="2468880" y="153619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Requirements signed off</a:t>
            </a:r>
            <a:endParaRPr lang="en-US" sz="1400" dirty="0"/>
          </a:p>
        </p:txBody>
      </p:sp>
      <p:sp>
        <p:nvSpPr>
          <p:cNvPr id="6" name="laWaterfall0"/>
          <p:cNvSpPr/>
          <p:nvPr/>
        </p:nvSpPr>
        <p:spPr>
          <a:xfrm>
            <a:off x="4087368" y="1810512"/>
            <a:ext cx="146304" cy="219456"/>
          </a:xfrm>
          <a:prstGeom prst="rightArrow">
            <a:avLst/>
          </a:prstGeom>
          <a:solidFill>
            <a:schemeClr val="accent6"/>
          </a:solidFill>
          <a:ln w="12700">
            <a:solidFill>
              <a:schemeClr val="accent6"/>
            </a:solidFill>
            <a:prstDash val="solid"/>
          </a:ln>
        </p:spPr>
      </p:sp>
      <p:sp>
        <p:nvSpPr>
          <p:cNvPr id="7" name="stepWaterfall1"/>
          <p:cNvSpPr/>
          <p:nvPr/>
        </p:nvSpPr>
        <p:spPr>
          <a:xfrm>
            <a:off x="4251960" y="1463040"/>
            <a:ext cx="1691640" cy="914400"/>
          </a:xfrm>
          <a:prstGeom prst="roundRect">
            <a:avLst>
              <a:gd name="adj" fmla="val 12000"/>
            </a:avLst>
          </a:prstGeom>
          <a:solidFill>
            <a:schemeClr val="bg2"/>
          </a:solidFill>
          <a:ln w="12700">
            <a:solidFill>
              <a:schemeClr val="bg2"/>
            </a:solidFill>
            <a:prstDash val="solid"/>
          </a:ln>
        </p:spPr>
      </p:sp>
      <p:sp>
        <p:nvSpPr>
          <p:cNvPr id="8" name="Text 6"/>
          <p:cNvSpPr txBox="1"/>
          <p:nvPr/>
        </p:nvSpPr>
        <p:spPr>
          <a:xfrm>
            <a:off x="4343400" y="153619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Months of building</a:t>
            </a:r>
            <a:endParaRPr lang="en-US" sz="1400" dirty="0"/>
          </a:p>
        </p:txBody>
      </p:sp>
      <p:sp>
        <p:nvSpPr>
          <p:cNvPr id="9" name="laWaterfall1"/>
          <p:cNvSpPr/>
          <p:nvPr/>
        </p:nvSpPr>
        <p:spPr>
          <a:xfrm>
            <a:off x="5961888" y="1810512"/>
            <a:ext cx="146304" cy="219456"/>
          </a:xfrm>
          <a:prstGeom prst="rightArrow">
            <a:avLst/>
          </a:prstGeom>
          <a:solidFill>
            <a:schemeClr val="accent6"/>
          </a:solidFill>
          <a:ln w="12700">
            <a:solidFill>
              <a:schemeClr val="accent6"/>
            </a:solidFill>
            <a:prstDash val="solid"/>
          </a:ln>
        </p:spPr>
      </p:sp>
      <p:sp>
        <p:nvSpPr>
          <p:cNvPr id="10" name="stepWaterfall2"/>
          <p:cNvSpPr/>
          <p:nvPr/>
        </p:nvSpPr>
        <p:spPr>
          <a:xfrm>
            <a:off x="6126480" y="1463040"/>
            <a:ext cx="1691640" cy="914400"/>
          </a:xfrm>
          <a:prstGeom prst="roundRect">
            <a:avLst>
              <a:gd name="adj" fmla="val 12000"/>
            </a:avLst>
          </a:prstGeom>
          <a:solidFill>
            <a:schemeClr val="bg2"/>
          </a:solidFill>
          <a:ln w="12700">
            <a:solidFill>
              <a:schemeClr val="bg2"/>
            </a:solidFill>
            <a:prstDash val="solid"/>
          </a:ln>
        </p:spPr>
      </p:sp>
      <p:sp>
        <p:nvSpPr>
          <p:cNvPr id="11" name="Text 9"/>
          <p:cNvSpPr txBox="1"/>
          <p:nvPr/>
        </p:nvSpPr>
        <p:spPr>
          <a:xfrm>
            <a:off x="6217920" y="153619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Wellness change arrives</a:t>
            </a:r>
            <a:endParaRPr lang="en-US" sz="1400" dirty="0"/>
          </a:p>
        </p:txBody>
      </p:sp>
      <p:sp>
        <p:nvSpPr>
          <p:cNvPr id="12" name="laWaterfall2"/>
          <p:cNvSpPr/>
          <p:nvPr/>
        </p:nvSpPr>
        <p:spPr>
          <a:xfrm>
            <a:off x="7836408" y="1810512"/>
            <a:ext cx="146304" cy="219456"/>
          </a:xfrm>
          <a:prstGeom prst="rightArrow">
            <a:avLst/>
          </a:prstGeom>
          <a:solidFill>
            <a:schemeClr val="accent6"/>
          </a:solidFill>
          <a:ln w="12700">
            <a:solidFill>
              <a:schemeClr val="accent6"/>
            </a:solidFill>
            <a:prstDash val="solid"/>
          </a:ln>
        </p:spPr>
      </p:sp>
      <p:sp>
        <p:nvSpPr>
          <p:cNvPr id="13" name="stepWaterfall3"/>
          <p:cNvSpPr/>
          <p:nvPr/>
        </p:nvSpPr>
        <p:spPr>
          <a:xfrm>
            <a:off x="8001000" y="1463040"/>
            <a:ext cx="1691640" cy="914400"/>
          </a:xfrm>
          <a:prstGeom prst="roundRect">
            <a:avLst>
              <a:gd name="adj" fmla="val 12000"/>
            </a:avLst>
          </a:prstGeom>
          <a:solidFill>
            <a:schemeClr val="bg2"/>
          </a:solidFill>
          <a:ln w="12700">
            <a:solidFill>
              <a:schemeClr val="bg2"/>
            </a:solidFill>
            <a:prstDash val="solid"/>
          </a:ln>
        </p:spPr>
      </p:sp>
      <p:sp>
        <p:nvSpPr>
          <p:cNvPr id="14" name="Text 12"/>
          <p:cNvSpPr txBox="1"/>
          <p:nvPr/>
        </p:nvSpPr>
        <p:spPr>
          <a:xfrm>
            <a:off x="8092440" y="153619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Reopen requirements and redesign</a:t>
            </a:r>
            <a:endParaRPr lang="en-US" sz="1400" dirty="0"/>
          </a:p>
        </p:txBody>
      </p:sp>
      <p:sp>
        <p:nvSpPr>
          <p:cNvPr id="15" name="laWaterfall3"/>
          <p:cNvSpPr/>
          <p:nvPr/>
        </p:nvSpPr>
        <p:spPr>
          <a:xfrm>
            <a:off x="9710928" y="1810512"/>
            <a:ext cx="146304" cy="219456"/>
          </a:xfrm>
          <a:prstGeom prst="rightArrow">
            <a:avLst/>
          </a:prstGeom>
          <a:solidFill>
            <a:schemeClr val="accent6"/>
          </a:solidFill>
          <a:ln w="12700">
            <a:solidFill>
              <a:schemeClr val="accent6"/>
            </a:solidFill>
            <a:prstDash val="solid"/>
          </a:ln>
        </p:spPr>
      </p:sp>
      <p:sp>
        <p:nvSpPr>
          <p:cNvPr id="16" name="stepWaterfall4"/>
          <p:cNvSpPr/>
          <p:nvPr/>
        </p:nvSpPr>
        <p:spPr>
          <a:xfrm>
            <a:off x="9875520" y="1463040"/>
            <a:ext cx="1691640" cy="914400"/>
          </a:xfrm>
          <a:prstGeom prst="roundRect">
            <a:avLst>
              <a:gd name="adj" fmla="val 12000"/>
            </a:avLst>
          </a:prstGeom>
          <a:solidFill>
            <a:schemeClr val="bg2"/>
          </a:solidFill>
          <a:ln w="12700">
            <a:solidFill>
              <a:schemeClr val="bg2"/>
            </a:solidFill>
            <a:prstDash val="solid"/>
          </a:ln>
        </p:spPr>
      </p:sp>
      <p:sp>
        <p:nvSpPr>
          <p:cNvPr id="17" name="Text 15"/>
          <p:cNvSpPr txBox="1"/>
          <p:nvPr/>
        </p:nvSpPr>
        <p:spPr>
          <a:xfrm>
            <a:off x="9966960" y="153619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Retest everything</a:t>
            </a:r>
            <a:endParaRPr lang="en-US" sz="1400" dirty="0"/>
          </a:p>
        </p:txBody>
      </p:sp>
      <p:sp>
        <p:nvSpPr>
          <p:cNvPr id="18" name="Text 16"/>
          <p:cNvSpPr txBox="1"/>
          <p:nvPr/>
        </p:nvSpPr>
        <p:spPr>
          <a:xfrm>
            <a:off x="2377440" y="2468880"/>
            <a:ext cx="8961120" cy="457200"/>
          </a:xfrm>
          <a:prstGeom prst="rect">
            <a:avLst/>
          </a:prstGeom>
          <a:noFill/>
          <a:ln/>
        </p:spPr>
        <p:txBody>
          <a:bodyPr wrap="square" lIns="0" tIns="0" rIns="0" bIns="0" rtlCol="0" anchor="t"/>
          <a:lstStyle/>
          <a:p>
            <a:pPr indent="0" marL="0">
              <a:buNone/>
            </a:pPr>
            <a:r>
              <a:rPr lang="en-US" sz="1500" b="1" i="1" dirty="0">
                <a:solidFill>
                  <a:schemeClr val="accent2"/>
                </a:solidFill>
              </a:rPr>
              <a:t>Result: deadline slips, and work built for the old direction is wasted.</a:t>
            </a:r>
            <a:endParaRPr lang="en-US" sz="1500" dirty="0"/>
          </a:p>
        </p:txBody>
      </p:sp>
      <p:sp>
        <p:nvSpPr>
          <p:cNvPr id="19" name="Text 17"/>
          <p:cNvSpPr txBox="1"/>
          <p:nvPr/>
        </p:nvSpPr>
        <p:spPr>
          <a:xfrm>
            <a:off x="548640" y="3657600"/>
            <a:ext cx="1737360" cy="9144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Scrum-Agile</a:t>
            </a:r>
            <a:endParaRPr lang="en-US" sz="1800" dirty="0"/>
          </a:p>
        </p:txBody>
      </p:sp>
      <p:sp>
        <p:nvSpPr>
          <p:cNvPr id="20" name="stepScrum-Agile0"/>
          <p:cNvSpPr/>
          <p:nvPr/>
        </p:nvSpPr>
        <p:spPr>
          <a:xfrm>
            <a:off x="2377440" y="3657600"/>
            <a:ext cx="1691640" cy="914400"/>
          </a:xfrm>
          <a:prstGeom prst="roundRect">
            <a:avLst>
              <a:gd name="adj" fmla="val 12000"/>
            </a:avLst>
          </a:prstGeom>
          <a:solidFill>
            <a:schemeClr val="bg2"/>
          </a:solidFill>
          <a:ln w="12700">
            <a:solidFill>
              <a:schemeClr val="bg2"/>
            </a:solidFill>
            <a:prstDash val="solid"/>
          </a:ln>
        </p:spPr>
      </p:sp>
      <p:sp>
        <p:nvSpPr>
          <p:cNvPr id="21" name="Text 19"/>
          <p:cNvSpPr txBox="1"/>
          <p:nvPr/>
        </p:nvSpPr>
        <p:spPr>
          <a:xfrm>
            <a:off x="2468880" y="373075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Sprint delivers features</a:t>
            </a:r>
            <a:endParaRPr lang="en-US" sz="1400" dirty="0"/>
          </a:p>
        </p:txBody>
      </p:sp>
      <p:sp>
        <p:nvSpPr>
          <p:cNvPr id="22" name="laScrum-Agile0"/>
          <p:cNvSpPr/>
          <p:nvPr/>
        </p:nvSpPr>
        <p:spPr>
          <a:xfrm>
            <a:off x="4087368" y="4005072"/>
            <a:ext cx="146304" cy="219456"/>
          </a:xfrm>
          <a:prstGeom prst="rightArrow">
            <a:avLst/>
          </a:prstGeom>
          <a:solidFill>
            <a:schemeClr val="accent1"/>
          </a:solidFill>
          <a:ln w="12700">
            <a:solidFill>
              <a:schemeClr val="accent1"/>
            </a:solidFill>
            <a:prstDash val="solid"/>
          </a:ln>
        </p:spPr>
      </p:sp>
      <p:sp>
        <p:nvSpPr>
          <p:cNvPr id="23" name="stepScrum-Agile1"/>
          <p:cNvSpPr/>
          <p:nvPr/>
        </p:nvSpPr>
        <p:spPr>
          <a:xfrm>
            <a:off x="4251960" y="3657600"/>
            <a:ext cx="1691640" cy="914400"/>
          </a:xfrm>
          <a:prstGeom prst="roundRect">
            <a:avLst>
              <a:gd name="adj" fmla="val 12000"/>
            </a:avLst>
          </a:prstGeom>
          <a:solidFill>
            <a:schemeClr val="bg2"/>
          </a:solidFill>
          <a:ln w="12700">
            <a:solidFill>
              <a:schemeClr val="bg2"/>
            </a:solidFill>
            <a:prstDash val="solid"/>
          </a:ln>
        </p:spPr>
      </p:sp>
      <p:sp>
        <p:nvSpPr>
          <p:cNvPr id="24" name="Text 22"/>
          <p:cNvSpPr txBox="1"/>
          <p:nvPr/>
        </p:nvSpPr>
        <p:spPr>
          <a:xfrm>
            <a:off x="4343400" y="373075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Wellness change arrives</a:t>
            </a:r>
            <a:endParaRPr lang="en-US" sz="1400" dirty="0"/>
          </a:p>
        </p:txBody>
      </p:sp>
      <p:sp>
        <p:nvSpPr>
          <p:cNvPr id="25" name="laScrum-Agile1"/>
          <p:cNvSpPr/>
          <p:nvPr/>
        </p:nvSpPr>
        <p:spPr>
          <a:xfrm>
            <a:off x="5961888" y="4005072"/>
            <a:ext cx="146304" cy="219456"/>
          </a:xfrm>
          <a:prstGeom prst="rightArrow">
            <a:avLst/>
          </a:prstGeom>
          <a:solidFill>
            <a:schemeClr val="accent1"/>
          </a:solidFill>
          <a:ln w="12700">
            <a:solidFill>
              <a:schemeClr val="accent1"/>
            </a:solidFill>
            <a:prstDash val="solid"/>
          </a:ln>
        </p:spPr>
      </p:sp>
      <p:sp>
        <p:nvSpPr>
          <p:cNvPr id="26" name="stepScrum-Agile2"/>
          <p:cNvSpPr/>
          <p:nvPr/>
        </p:nvSpPr>
        <p:spPr>
          <a:xfrm>
            <a:off x="6126480" y="3657600"/>
            <a:ext cx="1691640" cy="914400"/>
          </a:xfrm>
          <a:prstGeom prst="roundRect">
            <a:avLst>
              <a:gd name="adj" fmla="val 12000"/>
            </a:avLst>
          </a:prstGeom>
          <a:solidFill>
            <a:schemeClr val="bg2"/>
          </a:solidFill>
          <a:ln w="12700">
            <a:solidFill>
              <a:schemeClr val="bg2"/>
            </a:solidFill>
            <a:prstDash val="solid"/>
          </a:ln>
        </p:spPr>
      </p:sp>
      <p:sp>
        <p:nvSpPr>
          <p:cNvPr id="27" name="Text 25"/>
          <p:cNvSpPr txBox="1"/>
          <p:nvPr/>
        </p:nvSpPr>
        <p:spPr>
          <a:xfrm>
            <a:off x="6217920" y="373075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Product Owner reprioritizes backlog</a:t>
            </a:r>
            <a:endParaRPr lang="en-US" sz="1400" dirty="0"/>
          </a:p>
        </p:txBody>
      </p:sp>
      <p:sp>
        <p:nvSpPr>
          <p:cNvPr id="28" name="laScrum-Agile2"/>
          <p:cNvSpPr/>
          <p:nvPr/>
        </p:nvSpPr>
        <p:spPr>
          <a:xfrm>
            <a:off x="7836408" y="4005072"/>
            <a:ext cx="146304" cy="219456"/>
          </a:xfrm>
          <a:prstGeom prst="rightArrow">
            <a:avLst/>
          </a:prstGeom>
          <a:solidFill>
            <a:schemeClr val="accent1"/>
          </a:solidFill>
          <a:ln w="12700">
            <a:solidFill>
              <a:schemeClr val="accent1"/>
            </a:solidFill>
            <a:prstDash val="solid"/>
          </a:ln>
        </p:spPr>
      </p:sp>
      <p:sp>
        <p:nvSpPr>
          <p:cNvPr id="29" name="stepScrum-Agile3"/>
          <p:cNvSpPr/>
          <p:nvPr/>
        </p:nvSpPr>
        <p:spPr>
          <a:xfrm>
            <a:off x="8001000" y="3657600"/>
            <a:ext cx="1691640" cy="914400"/>
          </a:xfrm>
          <a:prstGeom prst="roundRect">
            <a:avLst>
              <a:gd name="adj" fmla="val 12000"/>
            </a:avLst>
          </a:prstGeom>
          <a:solidFill>
            <a:schemeClr val="bg2"/>
          </a:solidFill>
          <a:ln w="12700">
            <a:solidFill>
              <a:schemeClr val="bg2"/>
            </a:solidFill>
            <a:prstDash val="solid"/>
          </a:ln>
        </p:spPr>
      </p:sp>
      <p:sp>
        <p:nvSpPr>
          <p:cNvPr id="30" name="Text 28"/>
          <p:cNvSpPr txBox="1"/>
          <p:nvPr/>
        </p:nvSpPr>
        <p:spPr>
          <a:xfrm>
            <a:off x="8092440" y="373075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Next sprint updates content</a:t>
            </a:r>
            <a:endParaRPr lang="en-US" sz="1400" dirty="0"/>
          </a:p>
        </p:txBody>
      </p:sp>
      <p:sp>
        <p:nvSpPr>
          <p:cNvPr id="31" name="laScrum-Agile3"/>
          <p:cNvSpPr/>
          <p:nvPr/>
        </p:nvSpPr>
        <p:spPr>
          <a:xfrm>
            <a:off x="9710928" y="4005072"/>
            <a:ext cx="146304" cy="219456"/>
          </a:xfrm>
          <a:prstGeom prst="rightArrow">
            <a:avLst/>
          </a:prstGeom>
          <a:solidFill>
            <a:schemeClr val="accent1"/>
          </a:solidFill>
          <a:ln w="12700">
            <a:solidFill>
              <a:schemeClr val="accent1"/>
            </a:solidFill>
            <a:prstDash val="solid"/>
          </a:ln>
        </p:spPr>
      </p:sp>
      <p:sp>
        <p:nvSpPr>
          <p:cNvPr id="32" name="stepScrum-Agile4"/>
          <p:cNvSpPr/>
          <p:nvPr/>
        </p:nvSpPr>
        <p:spPr>
          <a:xfrm>
            <a:off x="9875520" y="3657600"/>
            <a:ext cx="1691640" cy="914400"/>
          </a:xfrm>
          <a:prstGeom prst="roundRect">
            <a:avLst>
              <a:gd name="adj" fmla="val 12000"/>
            </a:avLst>
          </a:prstGeom>
          <a:solidFill>
            <a:schemeClr val="bg2"/>
          </a:solidFill>
          <a:ln w="12700">
            <a:solidFill>
              <a:schemeClr val="bg2"/>
            </a:solidFill>
            <a:prstDash val="solid"/>
          </a:ln>
        </p:spPr>
      </p:sp>
      <p:sp>
        <p:nvSpPr>
          <p:cNvPr id="33" name="Text 31"/>
          <p:cNvSpPr txBox="1"/>
          <p:nvPr/>
        </p:nvSpPr>
        <p:spPr>
          <a:xfrm>
            <a:off x="9966960" y="3730752"/>
            <a:ext cx="1508760" cy="768096"/>
          </a:xfrm>
          <a:prstGeom prst="rect">
            <a:avLst/>
          </a:prstGeom>
          <a:noFill/>
          <a:ln/>
        </p:spPr>
        <p:txBody>
          <a:bodyPr wrap="square" lIns="0" tIns="0" rIns="0" bIns="0" rtlCol="0" anchor="ctr"/>
          <a:lstStyle/>
          <a:p>
            <a:pPr algn="ctr" indent="0" marL="0">
              <a:buNone/>
            </a:pPr>
            <a:r>
              <a:rPr lang="en-US" sz="1400" dirty="0">
                <a:solidFill>
                  <a:schemeClr val="tx1"/>
                </a:solidFill>
              </a:rPr>
              <a:t>Sprint Review with client</a:t>
            </a:r>
            <a:endParaRPr lang="en-US" sz="1400" dirty="0"/>
          </a:p>
        </p:txBody>
      </p:sp>
      <p:sp>
        <p:nvSpPr>
          <p:cNvPr id="34" name="Text 32"/>
          <p:cNvSpPr txBox="1"/>
          <p:nvPr/>
        </p:nvSpPr>
        <p:spPr>
          <a:xfrm>
            <a:off x="2377440" y="4663440"/>
            <a:ext cx="8961120" cy="457200"/>
          </a:xfrm>
          <a:prstGeom prst="rect">
            <a:avLst/>
          </a:prstGeom>
          <a:noFill/>
          <a:ln/>
        </p:spPr>
        <p:txBody>
          <a:bodyPr wrap="square" lIns="0" tIns="0" rIns="0" bIns="0" rtlCol="0" anchor="t"/>
          <a:lstStyle/>
          <a:p>
            <a:pPr indent="0" marL="0">
              <a:buNone/>
            </a:pPr>
            <a:r>
              <a:rPr lang="en-US" sz="1500" b="1" i="1" dirty="0">
                <a:solidFill>
                  <a:schemeClr val="accent4"/>
                </a:solidFill>
              </a:rPr>
              <a:t>Result: same deadline. The modular code only needed new images, text, and a title.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Choosing an approach: five factors to weigh</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4023360"/>
                <a:gridCol w="4023360"/>
              </a:tblGrid>
              <a:tr h="621792">
                <a:tc>
                  <a:txBody>
                    <a:bodyPr/>
                    <a:lstStyle/>
                    <a:p>
                      <a:pPr indent="0" marL="0">
                        <a:buNone/>
                      </a:pPr>
                      <a:r>
                        <a:rPr lang="en-US" sz="1500" b="1" dirty="0">
                          <a:solidFill>
                            <a:schemeClr val="bg1"/>
                          </a:solidFill>
                        </a:rPr>
                        <a:t>Factor</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500" b="1" dirty="0">
                          <a:solidFill>
                            <a:schemeClr val="bg1"/>
                          </a:solidFill>
                        </a:rPr>
                        <a:t>Lean Agile when...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500" b="1" dirty="0">
                          <a:solidFill>
                            <a:schemeClr val="bg1"/>
                          </a:solidFill>
                        </a:rPr>
                        <a:t>Lean waterfall when...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accent6"/>
                    </a:solidFill>
                  </a:tcPr>
                </a:tc>
              </a:tr>
              <a:tr h="621792">
                <a:tc>
                  <a:txBody>
                    <a:bodyPr/>
                    <a:lstStyle/>
                    <a:p>
                      <a:pPr indent="0" marL="0">
                        <a:buNone/>
                      </a:pPr>
                      <a:r>
                        <a:rPr lang="en-US" sz="1500" b="1" dirty="0">
                          <a:solidFill>
                            <a:schemeClr val="tx2"/>
                          </a:solidFill>
                        </a:rPr>
                        <a:t>Requirement stability</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Requirements are likely to change</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Requirements are fixed and fully known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500" b="1" dirty="0">
                          <a:solidFill>
                            <a:schemeClr val="tx2"/>
                          </a:solidFill>
                        </a:rPr>
                        <a:t>Customer involvement</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Client can review work often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Client is available only at milestones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500" b="1" dirty="0">
                          <a:solidFill>
                            <a:schemeClr val="tx2"/>
                          </a:solidFill>
                        </a:rPr>
                        <a:t>Team and location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Small, cross-functional teams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Large teams with strict hand-offs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500" b="1" dirty="0">
                          <a:solidFill>
                            <a:schemeClr val="tx2"/>
                          </a:solidFill>
                        </a:rPr>
                        <a:t>Regulation and documentation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Light documentation is acceptable</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Heavy compliance documentation is required</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500" b="1" dirty="0">
                          <a:solidFill>
                            <a:schemeClr val="tx2"/>
                          </a:solidFill>
                        </a:rPr>
                        <a:t>Scope and budget</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Scope can flex to meet a date</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Fixed scope and fixed budget contracts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600" i="1" dirty="0">
                <a:solidFill>
                  <a:schemeClr val="tx2"/>
                </a:solidFill>
              </a:rPr>
              <a:t>SNHU Travel landed on the Agile side of every factor except fixed dates, and Scrum still met them.</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400" b="1" dirty="0">
                <a:solidFill>
                  <a:schemeClr val="bg1"/>
                </a:solidFill>
              </a:rPr>
              <a:t>Recommendation: a phased move to Scrum</a:t>
            </a: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nchor="t"/>
          <a:lstStyle/>
          <a:p>
            <a:pPr marL="342900" indent="-342900">
              <a:spcAft>
                <a:spcPts val="800"/>
              </a:spcAft>
              <a:buSzPct val="100000"/>
              <a:buChar char="•"/>
            </a:pPr>
            <a:r>
              <a:rPr lang="en-US" sz="1800" dirty="0">
                <a:solidFill>
                  <a:schemeClr val="bg2"/>
                </a:solidFill>
              </a:rPr>
              <a:t>Train and dedicate Product Owners so priorities and answers come quickly (Magnussen et al., 2024).</a:t>
            </a:r>
            <a:endParaRPr lang="en-US" sz="1800" dirty="0"/>
          </a:p>
          <a:p>
            <a:pPr marL="342900" indent="-342900">
              <a:spcAft>
                <a:spcPts val="800"/>
              </a:spcAft>
              <a:buSzPct val="100000"/>
              <a:buChar char="•"/>
            </a:pPr>
            <a:r>
              <a:rPr lang="en-US" sz="1800" dirty="0">
                <a:solidFill>
                  <a:schemeClr val="bg2"/>
                </a:solidFill>
              </a:rPr>
              <a:t>Treat leadership and culture as the real work. Iqbal (2025) reports these are now the top barriers to Agile.</a:t>
            </a:r>
            <a:endParaRPr lang="en-US" sz="1800" dirty="0"/>
          </a:p>
          <a:p>
            <a:pPr marL="342900" indent="-342900">
              <a:spcAft>
                <a:spcPts val="800"/>
              </a:spcAft>
              <a:buSzPct val="100000"/>
              <a:buChar char="•"/>
            </a:pPr>
            <a:r>
              <a:rPr lang="en-US" sz="1800" dirty="0">
                <a:solidFill>
                  <a:schemeClr val="bg2"/>
                </a:solidFill>
              </a:rPr>
              <a:t>Use shared boards and backlogs so every team can see upcoming work (Kantola et al., 2022).</a:t>
            </a:r>
            <a:endParaRPr lang="en-US" sz="1800" dirty="0"/>
          </a:p>
          <a:p>
            <a:pPr marL="342900" indent="-342900">
              <a:spcAft>
                <a:spcPts val="800"/>
              </a:spcAft>
              <a:buSzPct val="100000"/>
              <a:buChar char="•"/>
            </a:pPr>
            <a:r>
              <a:rPr lang="en-US" sz="1800" dirty="0">
                <a:solidFill>
                  <a:schemeClr val="bg2"/>
                </a:solidFill>
              </a:rPr>
              <a:t>Allow a hybrid approach for fixed-scope, compliance-heavy projects (Mishra &amp; Alzoubi, 2023).</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indent="0" marL="0">
              <a:buNone/>
            </a:pPr>
            <a:r>
              <a:rPr lang="en-US" sz="3400" b="1" dirty="0">
                <a:solidFill>
                  <a:schemeClr val="tx2"/>
                </a:solidFill>
              </a:rPr>
              <a:t>References</a:t>
            </a:r>
            <a:endParaRPr lang="en-US" sz="3400" dirty="0"/>
          </a:p>
        </p:txBody>
      </p:sp>
      <p:sp>
        <p:nvSpPr>
          <p:cNvPr id="3" name="Text 1"/>
          <p:cNvSpPr txBox="1"/>
          <p:nvPr/>
        </p:nvSpPr>
        <p:spPr>
          <a:xfrm>
            <a:off x="548640" y="1371600"/>
            <a:ext cx="11064240" cy="47548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Cobb, C. G. (2015). </a:t>
            </a:r>
            <a:pPr indent="0" marL="0">
              <a:spcAft>
                <a:spcPts val="1000"/>
              </a:spcAft>
              <a:buNone/>
            </a:pPr>
            <a:r>
              <a:rPr lang="en-US" sz="1400" i="1" dirty="0">
                <a:solidFill>
                  <a:schemeClr val="tx1"/>
                </a:solidFill>
              </a:rPr>
              <a:t>The project manager's guide to mastering agile: Principles and practices for an adaptive approach</a:t>
            </a:r>
            <a:pPr indent="0" marL="0">
              <a:spcAft>
                <a:spcPts val="1000"/>
              </a:spcAft>
              <a:buNone/>
            </a:pPr>
            <a:r>
              <a:rPr lang="en-US" sz="1400" dirty="0">
                <a:solidFill>
                  <a:schemeClr val="tx1"/>
                </a:solidFill>
              </a:rPr>
              <a:t>. Wiley.</a:t>
            </a:r>
            <a:endParaRPr lang="en-US" sz="1400" dirty="0"/>
          </a:p>
          <a:p>
            <a:pPr indent="0" marL="0">
              <a:spcAft>
                <a:spcPts val="1000"/>
              </a:spcAft>
              <a:buNone/>
            </a:pPr>
            <a:r>
              <a:rPr lang="en-US" sz="1400" dirty="0">
                <a:solidFill>
                  <a:schemeClr val="tx1"/>
                </a:solidFill>
              </a:rPr>
              <a:t>Iqbal, M. (2025, September 14). </a:t>
            </a:r>
            <a:pPr indent="0" marL="0">
              <a:spcAft>
                <a:spcPts val="1000"/>
              </a:spcAft>
              <a:buNone/>
            </a:pPr>
            <a:r>
              <a:rPr lang="en-US" sz="1400" i="1" dirty="0">
                <a:solidFill>
                  <a:schemeClr val="tx1"/>
                </a:solidFill>
              </a:rPr>
              <a:t>How the state of agile has evolved over 17 reports</a:t>
            </a:r>
            <a:pPr indent="0" marL="0">
              <a:spcAft>
                <a:spcPts val="1000"/>
              </a:spcAft>
              <a:buNone/>
            </a:pPr>
            <a:r>
              <a:rPr lang="en-US" sz="1400" dirty="0">
                <a:solidFill>
                  <a:schemeClr val="tx1"/>
                </a:solidFill>
              </a:rPr>
              <a:t>. Scrum.org. https://www.scrum.org/resources/blog/how-state-agile-has-evolved-over-17-reports</a:t>
            </a:r>
            <a:endParaRPr lang="en-US" sz="1400" dirty="0"/>
          </a:p>
          <a:p>
            <a:pPr indent="0" marL="0">
              <a:spcAft>
                <a:spcPts val="1000"/>
              </a:spcAft>
              <a:buNone/>
            </a:pPr>
            <a:r>
              <a:rPr lang="en-US" sz="1400" dirty="0">
                <a:solidFill>
                  <a:schemeClr val="tx1"/>
                </a:solidFill>
              </a:rPr>
              <a:t>Kantola, K., Vanhanen, J., &amp; Tolvanen, J. (2022). Mind the product owner: An action research project into agile release planning. </a:t>
            </a:r>
            <a:pPr indent="0" marL="0">
              <a:spcAft>
                <a:spcPts val="1000"/>
              </a:spcAft>
              <a:buNone/>
            </a:pPr>
            <a:r>
              <a:rPr lang="en-US" sz="1400" i="1" dirty="0">
                <a:solidFill>
                  <a:schemeClr val="tx1"/>
                </a:solidFill>
              </a:rPr>
              <a:t>Information and Software Technology, 147</a:t>
            </a:r>
            <a:pPr indent="0" marL="0">
              <a:spcAft>
                <a:spcPts val="1000"/>
              </a:spcAft>
              <a:buNone/>
            </a:pPr>
            <a:r>
              <a:rPr lang="en-US" sz="1400" dirty="0">
                <a:solidFill>
                  <a:schemeClr val="tx1"/>
                </a:solidFill>
              </a:rPr>
              <a:t>, Article 106900. https://doi.org/10.1016/j.infsof.2022.106900</a:t>
            </a:r>
            <a:endParaRPr lang="en-US" sz="1400" dirty="0"/>
          </a:p>
          <a:p>
            <a:pPr indent="0" marL="0">
              <a:spcAft>
                <a:spcPts val="1000"/>
              </a:spcAft>
              <a:buNone/>
            </a:pPr>
            <a:r>
              <a:rPr lang="en-US" sz="1400" dirty="0">
                <a:solidFill>
                  <a:schemeClr val="tx1"/>
                </a:solidFill>
              </a:rPr>
              <a:t>Magnussen, E. F., Havnelid, E., &amp; Molléri, J. S. (2024). The product owner and its impact on success and challenges in agile Scrum projects: An interview study. </a:t>
            </a:r>
            <a:pPr indent="0" marL="0">
              <a:spcAft>
                <a:spcPts val="1000"/>
              </a:spcAft>
              <a:buNone/>
            </a:pPr>
            <a:r>
              <a:rPr lang="en-US" sz="1400" i="1" dirty="0">
                <a:solidFill>
                  <a:schemeClr val="tx1"/>
                </a:solidFill>
              </a:rPr>
              <a:t>Procedia Computer Science, 239</a:t>
            </a:r>
            <a:pPr indent="0" marL="0">
              <a:spcAft>
                <a:spcPts val="1000"/>
              </a:spcAft>
              <a:buNone/>
            </a:pPr>
            <a:r>
              <a:rPr lang="en-US" sz="1400" dirty="0">
                <a:solidFill>
                  <a:schemeClr val="tx1"/>
                </a:solidFill>
              </a:rPr>
              <a:t>, 1157–1164. https://doi.org/10.1016/j.procs.2024.06.282</a:t>
            </a:r>
            <a:endParaRPr lang="en-US" sz="1400" dirty="0"/>
          </a:p>
          <a:p>
            <a:pPr indent="0" marL="0">
              <a:spcAft>
                <a:spcPts val="1000"/>
              </a:spcAft>
              <a:buNone/>
            </a:pPr>
            <a:r>
              <a:rPr lang="en-US" sz="1400" dirty="0">
                <a:solidFill>
                  <a:schemeClr val="tx1"/>
                </a:solidFill>
              </a:rPr>
              <a:t>Mishra, A., &amp; Alzoubi, Y. I. (2023). Structured software development versus agile software development: A comparative analysis. </a:t>
            </a:r>
            <a:pPr indent="0" marL="0">
              <a:spcAft>
                <a:spcPts val="1000"/>
              </a:spcAft>
              <a:buNone/>
            </a:pPr>
            <a:r>
              <a:rPr lang="en-US" sz="1400" i="1" dirty="0">
                <a:solidFill>
                  <a:schemeClr val="tx1"/>
                </a:solidFill>
              </a:rPr>
              <a:t>International Journal of System Assurance Engineering and Management, 14</a:t>
            </a:r>
            <a:pPr indent="0" marL="0">
              <a:spcAft>
                <a:spcPts val="1000"/>
              </a:spcAft>
              <a:buNone/>
            </a:pPr>
            <a:r>
              <a:rPr lang="en-US" sz="1400" dirty="0">
                <a:solidFill>
                  <a:schemeClr val="tx1"/>
                </a:solidFill>
              </a:rPr>
              <a:t>(4), 1504–1522. https://doi.org/10.1007/s13198-023-01958-5</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Agile Pilot">
  <a:themeElements>
    <a:clrScheme name="Agile Pilot">
      <a:dk1>
        <a:srgbClr val="1B1B1B"/>
      </a:dk1>
      <a:lt1>
        <a:srgbClr val="FFFFFF"/>
      </a:lt1>
      <a:dk2>
        <a:srgbClr val="0E3B43"/>
      </a:dk2>
      <a:lt2>
        <a:srgbClr val="E8F1F2"/>
      </a:lt2>
      <a:accent1>
        <a:srgbClr val="1F7A8C"/>
      </a:accent1>
      <a:accent2>
        <a:srgbClr val="E8664A"/>
      </a:accent2>
      <a:accent3>
        <a:srgbClr val="F2B134"/>
      </a:accent3>
      <a:accent4>
        <a:srgbClr val="5B8C5A"/>
      </a:accent4>
      <a:accent5>
        <a:srgbClr val="7A6FAC"/>
      </a:accent5>
      <a:accent6>
        <a:srgbClr val="3D5A80"/>
      </a:accent6>
      <a:hlink>
        <a:srgbClr val="1F7A8C"/>
      </a:hlink>
      <a:folHlink>
        <a:srgbClr val="7A6FAC"/>
      </a:folHlink>
    </a:clrScheme>
    <a:fontScheme name="Agile 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to Scrum-Agile</dc:title>
  <dc:subject>PptxGenJS Presentation</dc:subject>
  <dc:creator>Jonathan Pineset</dc:creator>
  <cp:lastModifiedBy>Jonathan Pineset</cp:lastModifiedBy>
  <cp:revision>1</cp:revision>
  <dcterms:created xsi:type="dcterms:W3CDTF">2026-10-14T17:13:43Z</dcterms:created>
  <dcterms:modified xsi:type="dcterms:W3CDTF">2026-10-14T17:13:43Z</dcterms:modified>
</cp:coreProperties>
</file>